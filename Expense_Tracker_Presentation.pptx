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d8034e87a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g3bd8034e87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500063" y="0"/>
            <a:ext cx="40005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app solves real daily pain points.</a:t>
            </a:r>
            <a:endParaRPr/>
          </a:p>
        </p:txBody>
      </p:sp>
      <p:sp>
        <p:nvSpPr>
          <p:cNvPr id="93" name="Google Shape;93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500063" y="0"/>
            <a:ext cx="40005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Ties to core objectives from project description.</a:t>
            </a:r>
            <a:endParaRPr/>
          </a:p>
        </p:txBody>
      </p:sp>
      <p:sp>
        <p:nvSpPr>
          <p:cNvPr id="103" name="Google Shape;103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500063" y="0"/>
            <a:ext cx="40005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 quick add/filter live if possible.</a:t>
            </a:r>
            <a:endParaRPr/>
          </a:p>
        </p:txBody>
      </p:sp>
      <p:sp>
        <p:nvSpPr>
          <p:cNvPr id="113" name="Google Shape;113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Independent frontend dev with mocks.</a:t>
            </a:r>
            <a:endParaRPr/>
          </a:p>
        </p:txBody>
      </p:sp>
      <p:sp>
        <p:nvSpPr>
          <p:cNvPr id="122" name="Google Shape;122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d8034e87a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g3bd8034e87a_0_1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Production-ready from day one.</a:t>
            </a:r>
            <a:endParaRPr/>
          </a:p>
        </p:txBody>
      </p:sp>
      <p:sp>
        <p:nvSpPr>
          <p:cNvPr id="136" name="Google Shape;136;g3bd8034e87a_0_1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500063" y="0"/>
            <a:ext cx="40005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Seamless user experience.</a:t>
            </a:r>
            <a:endParaRPr/>
          </a:p>
        </p:txBody>
      </p:sp>
      <p:sp>
        <p:nvSpPr>
          <p:cNvPr id="146" name="Google Shape;146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d8034e87a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5" name="Google Shape;155;g3bd8034e87a_0_10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Seamless user experience.</a:t>
            </a:r>
            <a:endParaRPr/>
          </a:p>
        </p:txBody>
      </p:sp>
      <p:sp>
        <p:nvSpPr>
          <p:cNvPr id="156" name="Google Shape;156;g3bd8034e87a_0_10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" name="Google Shape;164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Pause for live demo if time allows.</a:t>
            </a:r>
            <a:endParaRPr/>
          </a:p>
        </p:txBody>
      </p:sp>
      <p:sp>
        <p:nvSpPr>
          <p:cNvPr id="165" name="Google Shape;165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d8034e87a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g3bd8034e87a_0_12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Pause for live demo if time allows.</a:t>
            </a:r>
            <a:endParaRPr/>
          </a:p>
        </p:txBody>
      </p:sp>
      <p:sp>
        <p:nvSpPr>
          <p:cNvPr id="175" name="Google Shape;175;g3bd8034e87a_0_12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d8034e87a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3" name="Google Shape;183;g3bd8034e87a_0_14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Pause for live demo if time allows.</a:t>
            </a:r>
            <a:endParaRPr/>
          </a:p>
        </p:txBody>
      </p:sp>
      <p:sp>
        <p:nvSpPr>
          <p:cNvPr id="184" name="Google Shape;184;g3bd8034e87a_0_14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bd8034e87a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2" name="Google Shape;192;g3bd8034e87a_0_14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Pause for live demo if time allows.</a:t>
            </a:r>
            <a:endParaRPr/>
          </a:p>
        </p:txBody>
      </p:sp>
      <p:sp>
        <p:nvSpPr>
          <p:cNvPr id="193" name="Google Shape;193;g3bd8034e87a_0_14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bd8034e87a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1" name="Google Shape;201;g3bd8034e87a_0_13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Pause for live demo if time allows.</a:t>
            </a:r>
            <a:endParaRPr/>
          </a:p>
        </p:txBody>
      </p:sp>
      <p:sp>
        <p:nvSpPr>
          <p:cNvPr id="202" name="Google Shape;202;g3bd8034e87a_0_13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bd8034e87a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500063" y="0"/>
            <a:ext cx="40005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g3bd8034e87a_0_20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Pause for live demo if time allows.</a:t>
            </a:r>
            <a:endParaRPr/>
          </a:p>
        </p:txBody>
      </p:sp>
      <p:sp>
        <p:nvSpPr>
          <p:cNvPr id="211" name="Google Shape;211;g3bd8034e87a_0_20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bd8034e87a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500063" y="0"/>
            <a:ext cx="40005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9" name="Google Shape;219;g3bd8034e87a_0_2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Pause for live demo if time allows.</a:t>
            </a:r>
            <a:endParaRPr/>
          </a:p>
        </p:txBody>
      </p:sp>
      <p:sp>
        <p:nvSpPr>
          <p:cNvPr id="220" name="Google Shape;220;g3bd8034e87a_0_2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bd8034e87a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500063" y="0"/>
            <a:ext cx="40005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8" name="Google Shape;228;g3bd8034e87a_0_21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Pause for live demo if time allows.</a:t>
            </a:r>
            <a:endParaRPr/>
          </a:p>
        </p:txBody>
      </p:sp>
      <p:sp>
        <p:nvSpPr>
          <p:cNvPr id="229" name="Google Shape;229;g3bd8034e87a_0_21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500063" y="0"/>
            <a:ext cx="40005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7" name="Google Shape;237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 floor.</a:t>
            </a:r>
            <a:endParaRPr/>
          </a:p>
        </p:txBody>
      </p:sp>
      <p:sp>
        <p:nvSpPr>
          <p:cNvPr id="238" name="Google Shape;238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bd8034e87a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500063" y="0"/>
            <a:ext cx="40005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" name="Google Shape;247;g3bd8034e87a_0_19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 floor.</a:t>
            </a:r>
            <a:endParaRPr/>
          </a:p>
        </p:txBody>
      </p:sp>
      <p:sp>
        <p:nvSpPr>
          <p:cNvPr id="248" name="Google Shape;248;g3bd8034e87a_0_19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7CC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r="-381" b="18586"/>
          <a:stretch/>
        </p:blipFill>
        <p:spPr>
          <a:xfrm>
            <a:off x="274670" y="237669"/>
            <a:ext cx="909233" cy="78869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-399300" y="538353"/>
            <a:ext cx="9144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3366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WIPRO NGA Program – 25SUB4530_CP_JAVA</a:t>
            </a:r>
            <a:endParaRPr sz="1900" b="1"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274669" y="2349729"/>
            <a:ext cx="9144000" cy="343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932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Capstone Project Presentation – 9</a:t>
            </a:r>
            <a:r>
              <a:rPr lang="en-US" sz="2400" b="0" i="0" u="none" strike="noStrike" cap="none" baseline="30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Feb &amp; 10</a:t>
            </a:r>
            <a:r>
              <a:rPr lang="en-US" sz="2400" b="0" i="0" u="none" strike="noStrike" cap="none" baseline="30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Feb   2026</a:t>
            </a:r>
            <a:endParaRPr sz="2400"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274669" y="6421825"/>
            <a:ext cx="3129900" cy="2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3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www.rpsconsulting.in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74669" y="4489298"/>
            <a:ext cx="748380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Presented by :- </a:t>
            </a:r>
            <a:endParaRPr sz="24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Prem Kumar R (</a:t>
            </a:r>
            <a:r>
              <a:rPr lang="en-US" sz="2400" dirty="0">
                <a:solidFill>
                  <a:schemeClr val="lt1"/>
                </a:solidFill>
              </a:rPr>
              <a:t>58670)</a:t>
            </a:r>
            <a:endParaRPr sz="2400" dirty="0">
              <a:solidFill>
                <a:schemeClr val="lt1"/>
              </a:solidFill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</a:rPr>
              <a:t>Pratheep P (57168)</a:t>
            </a:r>
            <a:endParaRPr sz="2400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>
                <a:solidFill>
                  <a:schemeClr val="lt1"/>
                </a:solidFill>
              </a:rPr>
              <a:t>Team Number : 15</a:t>
            </a:r>
            <a:endParaRPr sz="2400" dirty="0">
              <a:solidFill>
                <a:schemeClr val="lt1"/>
              </a:solidFill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74904" y="3257598"/>
            <a:ext cx="8345400" cy="5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32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lt1"/>
                </a:solidFill>
              </a:rPr>
              <a:t>Expense Tracker Application</a:t>
            </a:r>
            <a:endParaRPr sz="4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b="1">
              <a:solidFill>
                <a:srgbClr val="0187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4"/>
          <p:cNvSpPr txBox="1">
            <a:spLocks noGrp="1"/>
          </p:cNvSpPr>
          <p:nvPr>
            <p:ph type="body" idx="1"/>
          </p:nvPr>
        </p:nvSpPr>
        <p:spPr>
          <a:xfrm>
            <a:off x="263774" y="1621225"/>
            <a:ext cx="8523609" cy="42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298291" algn="l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0187CC"/>
              </a:buClr>
              <a:buSzPct val="100000"/>
              <a:buChar char="•"/>
            </a:pPr>
            <a:r>
              <a:rPr lang="en-US" sz="2400" dirty="0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Users struggle to track expenses across personal/organizational needs.</a:t>
            </a:r>
            <a:endParaRPr sz="2400" dirty="0">
              <a:solidFill>
                <a:srgbClr val="0187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298291" algn="l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0187CC"/>
              </a:buClr>
              <a:buSzPct val="100000"/>
              <a:buChar char="•"/>
            </a:pPr>
            <a:r>
              <a:rPr lang="en-US" sz="2400" dirty="0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No easy way to categorize (Food, Travel, Utilities), filter by date, or visualize patterns.</a:t>
            </a:r>
            <a:endParaRPr sz="2400" dirty="0">
              <a:solidFill>
                <a:srgbClr val="0187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298291" algn="l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0187CC"/>
              </a:buClr>
              <a:buSzPct val="100000"/>
              <a:buChar char="•"/>
            </a:pPr>
            <a:r>
              <a:rPr lang="en-US" sz="2400" dirty="0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Manual tracking leads to overspending and poor financial insights.</a:t>
            </a:r>
            <a:endParaRPr sz="2400" dirty="0">
              <a:solidFill>
                <a:srgbClr val="0187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14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30" y="6274784"/>
            <a:ext cx="645766" cy="422937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371500" y="6457800"/>
            <a:ext cx="3772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2024 - RPS Consulting all rights reserved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Project Goals</a:t>
            </a:r>
            <a:endParaRPr b="1">
              <a:solidFill>
                <a:srgbClr val="0187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5"/>
          <p:cNvSpPr txBox="1">
            <a:spLocks noGrp="1"/>
          </p:cNvSpPr>
          <p:nvPr>
            <p:ph type="body" idx="1"/>
          </p:nvPr>
        </p:nvSpPr>
        <p:spPr>
          <a:xfrm>
            <a:off x="351675" y="1417650"/>
            <a:ext cx="5278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11150" algn="l" rtl="0">
              <a:spcBef>
                <a:spcPts val="640"/>
              </a:spcBef>
              <a:spcAft>
                <a:spcPts val="0"/>
              </a:spcAft>
              <a:buClr>
                <a:srgbClr val="0187CC"/>
              </a:buClr>
              <a:buSzPts val="2700"/>
              <a:buChar char="•"/>
            </a:pPr>
            <a:r>
              <a:rPr lang="en-US" sz="2400" dirty="0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Efficiently track and manage expense entries.</a:t>
            </a:r>
            <a:endParaRPr sz="2400" dirty="0">
              <a:solidFill>
                <a:srgbClr val="0187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11150" algn="l" rtl="0">
              <a:spcBef>
                <a:spcPts val="640"/>
              </a:spcBef>
              <a:spcAft>
                <a:spcPts val="0"/>
              </a:spcAft>
              <a:buClr>
                <a:srgbClr val="0187CC"/>
              </a:buClr>
              <a:buSzPts val="2700"/>
              <a:buChar char="•"/>
            </a:pPr>
            <a:r>
              <a:rPr lang="en-US" sz="2400" dirty="0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Provide clear visibility into spending habits via summaries and filters.</a:t>
            </a:r>
            <a:endParaRPr sz="2400" dirty="0">
              <a:solidFill>
                <a:srgbClr val="0187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11150" algn="l" rtl="0">
              <a:spcBef>
                <a:spcPts val="640"/>
              </a:spcBef>
              <a:spcAft>
                <a:spcPts val="0"/>
              </a:spcAft>
              <a:buClr>
                <a:srgbClr val="0187CC"/>
              </a:buClr>
              <a:buSzPts val="2700"/>
              <a:buChar char="•"/>
            </a:pPr>
            <a:r>
              <a:rPr lang="en-US" sz="2400" dirty="0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Support real-time updates, charts, and analysis for better decisions.</a:t>
            </a:r>
            <a:endParaRPr sz="2400" dirty="0">
              <a:solidFill>
                <a:srgbClr val="0187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15"/>
          <p:cNvPicPr preferRelativeResize="0"/>
          <p:nvPr/>
        </p:nvPicPr>
        <p:blipFill rotWithShape="1">
          <a:blip r:embed="rId3">
            <a:alphaModFix/>
          </a:blip>
          <a:srcRect t="3926" b="6627"/>
          <a:stretch/>
        </p:blipFill>
        <p:spPr>
          <a:xfrm>
            <a:off x="5619725" y="2096178"/>
            <a:ext cx="3513525" cy="2665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630" y="6274784"/>
            <a:ext cx="645766" cy="42293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226050" y="6457800"/>
            <a:ext cx="3907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2024 - RPS Consulting all rights reserved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Core Functionalities</a:t>
            </a:r>
            <a:endParaRPr b="1">
              <a:solidFill>
                <a:srgbClr val="0187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6"/>
          <p:cNvSpPr txBox="1">
            <a:spLocks noGrp="1"/>
          </p:cNvSpPr>
          <p:nvPr>
            <p:ph type="body" idx="1"/>
          </p:nvPr>
        </p:nvSpPr>
        <p:spPr>
          <a:xfrm>
            <a:off x="457200" y="14176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30200" algn="just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rgbClr val="0187CC"/>
              </a:buClr>
              <a:buSzPts val="3000"/>
              <a:buChar char="•"/>
            </a:pPr>
            <a:r>
              <a:rPr lang="en-US" sz="2400" dirty="0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Add, edit, delete expenses along with their categories (Food, Travel, etc.).</a:t>
            </a:r>
            <a:endParaRPr sz="2400" dirty="0">
              <a:solidFill>
                <a:srgbClr val="0187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30200" algn="just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rgbClr val="0187CC"/>
              </a:buClr>
              <a:buSzPts val="3000"/>
              <a:buChar char="•"/>
            </a:pPr>
            <a:r>
              <a:rPr lang="en-US" sz="2400" dirty="0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Filter by date range and category.</a:t>
            </a:r>
            <a:endParaRPr sz="2400" dirty="0">
              <a:solidFill>
                <a:srgbClr val="0187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30200" algn="just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rgbClr val="0187CC"/>
              </a:buClr>
              <a:buSzPts val="3000"/>
              <a:buChar char="•"/>
            </a:pPr>
            <a:r>
              <a:rPr lang="en-US" sz="2400" dirty="0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Calculate totals and generate spending summaries.</a:t>
            </a:r>
            <a:endParaRPr sz="2400" dirty="0">
              <a:solidFill>
                <a:srgbClr val="0187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30200" algn="just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rgbClr val="0187CC"/>
              </a:buClr>
              <a:buSzPts val="3000"/>
              <a:buChar char="•"/>
            </a:pPr>
            <a:r>
              <a:rPr lang="en-US" sz="2400" dirty="0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Interactive dashboard with charts (Chart.js).</a:t>
            </a:r>
            <a:endParaRPr sz="2400" dirty="0">
              <a:solidFill>
                <a:srgbClr val="0187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p16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30" y="6274784"/>
            <a:ext cx="645766" cy="422937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5307000" y="6457800"/>
            <a:ext cx="383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2024 - RPS Consulting all rights reserved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>
            <a:spLocks noGrp="1"/>
          </p:cNvSpPr>
          <p:nvPr>
            <p:ph type="title"/>
          </p:nvPr>
        </p:nvSpPr>
        <p:spPr>
          <a:xfrm>
            <a:off x="457200" y="14636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Technology Stack - Frontend</a:t>
            </a:r>
            <a:endParaRPr b="1">
              <a:solidFill>
                <a:srgbClr val="0187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7"/>
          <p:cNvSpPr txBox="1">
            <a:spLocks noGrp="1"/>
          </p:cNvSpPr>
          <p:nvPr>
            <p:ph type="body" idx="1"/>
          </p:nvPr>
        </p:nvSpPr>
        <p:spPr>
          <a:xfrm>
            <a:off x="754400" y="1413174"/>
            <a:ext cx="6843900" cy="20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245427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rgbClr val="0187CC"/>
              </a:buClr>
              <a:buSzPct val="100000"/>
              <a:buChar char="•"/>
            </a:pPr>
            <a:r>
              <a:rPr lang="en-US" sz="1800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Angular </a:t>
            </a:r>
            <a:endParaRPr sz="1800">
              <a:solidFill>
                <a:srgbClr val="0187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245427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rgbClr val="0187CC"/>
              </a:buClr>
              <a:buSzPct val="100000"/>
              <a:buChar char="•"/>
            </a:pPr>
            <a:r>
              <a:rPr lang="en-US" sz="1800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Styling: Vanilla CSS </a:t>
            </a:r>
            <a:endParaRPr sz="1800">
              <a:solidFill>
                <a:srgbClr val="0187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245427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rgbClr val="0187CC"/>
              </a:buClr>
              <a:buSzPct val="100000"/>
              <a:buChar char="•"/>
            </a:pPr>
            <a:r>
              <a:rPr lang="en-US" sz="1800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Data Viz: Chart.js</a:t>
            </a:r>
            <a:endParaRPr sz="1800">
              <a:solidFill>
                <a:srgbClr val="0187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None/>
            </a:pPr>
            <a:endParaRPr sz="1800">
              <a:solidFill>
                <a:srgbClr val="0187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p17"/>
          <p:cNvPicPr preferRelativeResize="0"/>
          <p:nvPr/>
        </p:nvPicPr>
        <p:blipFill rotWithShape="1">
          <a:blip r:embed="rId3">
            <a:alphaModFix/>
          </a:blip>
          <a:srcRect l="27537" r="27845"/>
          <a:stretch/>
        </p:blipFill>
        <p:spPr>
          <a:xfrm>
            <a:off x="6629375" y="1562212"/>
            <a:ext cx="1359065" cy="126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7" descr="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630" y="6274784"/>
            <a:ext cx="645766" cy="422937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/>
        </p:nvSpPr>
        <p:spPr>
          <a:xfrm>
            <a:off x="5184000" y="6457800"/>
            <a:ext cx="396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2024 - RPS Consulting all rights reserved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754400" y="2871713"/>
            <a:ext cx="6330600" cy="20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0187CC"/>
                </a:solidFill>
              </a:rPr>
              <a:t>Backend</a:t>
            </a:r>
            <a:endParaRPr sz="2300">
              <a:solidFill>
                <a:srgbClr val="0187CC"/>
              </a:solidFill>
            </a:endParaRPr>
          </a:p>
          <a:p>
            <a:pPr marL="342900" lvl="0" indent="-234950" algn="l" rtl="0">
              <a:lnSpc>
                <a:spcPct val="130000"/>
              </a:lnSpc>
              <a:spcBef>
                <a:spcPts val="640"/>
              </a:spcBef>
              <a:spcAft>
                <a:spcPts val="0"/>
              </a:spcAft>
              <a:buClr>
                <a:srgbClr val="0187CC"/>
              </a:buClr>
              <a:buSzPts val="1500"/>
              <a:buChar char="•"/>
            </a:pPr>
            <a:r>
              <a:rPr lang="en-US" sz="1500">
                <a:solidFill>
                  <a:srgbClr val="0187CC"/>
                </a:solidFill>
              </a:rPr>
              <a:t>Spring Boot </a:t>
            </a:r>
            <a:endParaRPr sz="1500">
              <a:solidFill>
                <a:srgbClr val="0187CC"/>
              </a:solidFill>
            </a:endParaRPr>
          </a:p>
          <a:p>
            <a:pPr marL="342900" lvl="0" indent="-234950" algn="l" rtl="0">
              <a:lnSpc>
                <a:spcPct val="130000"/>
              </a:lnSpc>
              <a:spcBef>
                <a:spcPts val="640"/>
              </a:spcBef>
              <a:spcAft>
                <a:spcPts val="0"/>
              </a:spcAft>
              <a:buClr>
                <a:srgbClr val="0187CC"/>
              </a:buClr>
              <a:buSzPts val="1500"/>
              <a:buChar char="•"/>
            </a:pPr>
            <a:r>
              <a:rPr lang="en-US" sz="1500">
                <a:solidFill>
                  <a:srgbClr val="0187CC"/>
                </a:solidFill>
              </a:rPr>
              <a:t>ORM: Spring Data JPA </a:t>
            </a:r>
            <a:endParaRPr sz="1500">
              <a:solidFill>
                <a:srgbClr val="0187CC"/>
              </a:solidFill>
            </a:endParaRPr>
          </a:p>
          <a:p>
            <a:pPr marL="342900" lvl="0" indent="-234950" algn="l" rtl="0">
              <a:lnSpc>
                <a:spcPct val="130000"/>
              </a:lnSpc>
              <a:spcBef>
                <a:spcPts val="640"/>
              </a:spcBef>
              <a:spcAft>
                <a:spcPts val="0"/>
              </a:spcAft>
              <a:buClr>
                <a:srgbClr val="0187CC"/>
              </a:buClr>
              <a:buSzPts val="1500"/>
              <a:buChar char="•"/>
            </a:pPr>
            <a:r>
              <a:rPr lang="en-US" sz="1500">
                <a:solidFill>
                  <a:srgbClr val="0187CC"/>
                </a:solidFill>
              </a:rPr>
              <a:t>DB: MySQL.</a:t>
            </a:r>
            <a:endParaRPr sz="1500">
              <a:solidFill>
                <a:srgbClr val="0187CC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754400" y="4372038"/>
            <a:ext cx="6049200" cy="13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0187CC"/>
                </a:solidFill>
              </a:rPr>
              <a:t>Deployment</a:t>
            </a:r>
            <a:endParaRPr sz="2300" b="1">
              <a:solidFill>
                <a:srgbClr val="0187CC"/>
              </a:solidFill>
            </a:endParaRPr>
          </a:p>
          <a:p>
            <a:pPr marL="342900" lvl="0" indent="-234950" algn="l" rtl="0">
              <a:lnSpc>
                <a:spcPct val="130000"/>
              </a:lnSpc>
              <a:spcBef>
                <a:spcPts val="640"/>
              </a:spcBef>
              <a:spcAft>
                <a:spcPts val="0"/>
              </a:spcAft>
              <a:buClr>
                <a:srgbClr val="0187CC"/>
              </a:buClr>
              <a:buSzPts val="1500"/>
              <a:buChar char="•"/>
            </a:pPr>
            <a:r>
              <a:rPr lang="en-US" sz="1500">
                <a:solidFill>
                  <a:srgbClr val="0187CC"/>
                </a:solidFill>
              </a:rPr>
              <a:t>Docker: Containerized deployment for consistency.</a:t>
            </a:r>
            <a:endParaRPr sz="1500">
              <a:solidFill>
                <a:srgbClr val="0187CC"/>
              </a:solidFill>
            </a:endParaRPr>
          </a:p>
          <a:p>
            <a:pPr marL="342900" lvl="0" indent="-234950" algn="l" rtl="0">
              <a:lnSpc>
                <a:spcPct val="130000"/>
              </a:lnSpc>
              <a:spcBef>
                <a:spcPts val="640"/>
              </a:spcBef>
              <a:spcAft>
                <a:spcPts val="0"/>
              </a:spcAft>
              <a:buClr>
                <a:srgbClr val="0187CC"/>
              </a:buClr>
              <a:buSzPts val="1500"/>
              <a:buChar char="•"/>
            </a:pPr>
            <a:r>
              <a:rPr lang="en-US" sz="1500">
                <a:solidFill>
                  <a:srgbClr val="0187CC"/>
                </a:solidFill>
              </a:rPr>
              <a:t>Azure App Service: Cloud hosting for scalability.</a:t>
            </a:r>
            <a:endParaRPr sz="1500">
              <a:solidFill>
                <a:srgbClr val="0187CC"/>
              </a:solidFill>
            </a:endParaRPr>
          </a:p>
          <a:p>
            <a:pPr marL="342900" lvl="0" indent="-234950" algn="l" rtl="0">
              <a:lnSpc>
                <a:spcPct val="130000"/>
              </a:lnSpc>
              <a:spcBef>
                <a:spcPts val="640"/>
              </a:spcBef>
              <a:spcAft>
                <a:spcPts val="0"/>
              </a:spcAft>
              <a:buClr>
                <a:srgbClr val="0187CC"/>
              </a:buClr>
              <a:buSzPts val="1500"/>
              <a:buChar char="•"/>
            </a:pPr>
            <a:r>
              <a:rPr lang="en-US" sz="1500">
                <a:solidFill>
                  <a:srgbClr val="0187CC"/>
                </a:solidFill>
              </a:rPr>
              <a:t>Azure Static Webapp: Frontend hosting</a:t>
            </a:r>
            <a:endParaRPr sz="1500">
              <a:solidFill>
                <a:srgbClr val="0187CC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93299" y="3378338"/>
            <a:ext cx="1031225" cy="103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37400" y="4788650"/>
            <a:ext cx="1143000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0187CC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Entity Relationship Diagram</a:t>
            </a:r>
            <a:endParaRPr b="1">
              <a:solidFill>
                <a:srgbClr val="0187CC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>
              <a:solidFill>
                <a:srgbClr val="0187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18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30" y="6274784"/>
            <a:ext cx="645766" cy="422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8"/>
          <p:cNvPicPr preferRelativeResize="0"/>
          <p:nvPr/>
        </p:nvPicPr>
        <p:blipFill rotWithShape="1">
          <a:blip r:embed="rId4">
            <a:alphaModFix/>
          </a:blip>
          <a:srcRect l="6381" t="14336" r="7262" b="14336"/>
          <a:stretch/>
        </p:blipFill>
        <p:spPr>
          <a:xfrm>
            <a:off x="362013" y="1600200"/>
            <a:ext cx="8419974" cy="4013076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/>
          <p:nvPr/>
        </p:nvSpPr>
        <p:spPr>
          <a:xfrm>
            <a:off x="5430000" y="6457800"/>
            <a:ext cx="371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2024 - RPS Consulting all rights reserved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Key Workflows</a:t>
            </a:r>
            <a:endParaRPr b="1">
              <a:solidFill>
                <a:srgbClr val="0187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66153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342900" lvl="0" indent="-1397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473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rgbClr val="0187CC"/>
              </a:buClr>
              <a:buSzPct val="100000"/>
              <a:buFont typeface="Arial"/>
              <a:buAutoNum type="arabicParenR"/>
            </a:pPr>
            <a:r>
              <a:rPr lang="en-US" sz="2700" dirty="0">
                <a:solidFill>
                  <a:srgbClr val="0187CC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Authentication</a:t>
            </a:r>
            <a:endParaRPr sz="2700" dirty="0">
              <a:solidFill>
                <a:srgbClr val="0187CC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342900" lvl="0" indent="-361473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rgbClr val="0187CC"/>
              </a:buClr>
              <a:buSzPct val="100000"/>
              <a:buChar char="•"/>
            </a:pPr>
            <a:r>
              <a:rPr lang="en-US" sz="2700" dirty="0">
                <a:solidFill>
                  <a:srgbClr val="0187CC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User submits credentials on Login page.</a:t>
            </a:r>
            <a:endParaRPr sz="2700" dirty="0">
              <a:solidFill>
                <a:srgbClr val="0187CC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342900" lvl="0" indent="-361473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rgbClr val="0187CC"/>
              </a:buClr>
              <a:buSzPct val="100000"/>
              <a:buChar char="•"/>
            </a:pPr>
            <a:r>
              <a:rPr lang="en-US" sz="2700" dirty="0">
                <a:solidFill>
                  <a:srgbClr val="0187CC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Auth Service sends the POST request to http://&lt;port&gt;/auth/login.</a:t>
            </a:r>
            <a:endParaRPr sz="2700" dirty="0">
              <a:solidFill>
                <a:srgbClr val="0187CC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342900" lvl="0" indent="-361473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rgbClr val="0187CC"/>
              </a:buClr>
              <a:buSzPct val="100000"/>
              <a:buChar char="•"/>
            </a:pPr>
            <a:r>
              <a:rPr lang="en-US" sz="2700" dirty="0">
                <a:solidFill>
                  <a:srgbClr val="0187CC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On success, user data is stored in </a:t>
            </a:r>
            <a:r>
              <a:rPr lang="en-US" sz="2700" dirty="0" err="1">
                <a:solidFill>
                  <a:srgbClr val="0187CC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localStorage</a:t>
            </a:r>
            <a:r>
              <a:rPr lang="en-US" sz="2700" dirty="0">
                <a:solidFill>
                  <a:srgbClr val="0187CC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2700" dirty="0" err="1">
                <a:solidFill>
                  <a:srgbClr val="0187CC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BehaviorSubject</a:t>
            </a:r>
            <a:r>
              <a:rPr lang="en-US" sz="2700" dirty="0">
                <a:solidFill>
                  <a:srgbClr val="0187CC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endParaRPr sz="2700" dirty="0">
              <a:solidFill>
                <a:srgbClr val="0187CC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342900" lvl="0" indent="-361473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rgbClr val="0187CC"/>
              </a:buClr>
              <a:buSzPct val="100000"/>
              <a:buChar char="•"/>
            </a:pPr>
            <a:r>
              <a:rPr lang="en-US" sz="2700" dirty="0">
                <a:solidFill>
                  <a:srgbClr val="0187CC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User is redirected to Dashboard.</a:t>
            </a:r>
            <a:endParaRPr sz="2700" dirty="0">
              <a:solidFill>
                <a:srgbClr val="0187CC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342900" lvl="0" indent="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None/>
            </a:pPr>
            <a:endParaRPr sz="2700" dirty="0">
              <a:solidFill>
                <a:srgbClr val="787C99"/>
              </a:solidFill>
              <a:highlight>
                <a:srgbClr val="1A1B26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1525" y="2519629"/>
            <a:ext cx="2288025" cy="228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9" descr="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630" y="6274784"/>
            <a:ext cx="645766" cy="422937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>
            <a:off x="5113500" y="6457800"/>
            <a:ext cx="403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2024 - RPS Consulting all rights reserved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0"/>
          <p:cNvSpPr txBox="1">
            <a:spLocks noGrp="1"/>
          </p:cNvSpPr>
          <p:nvPr>
            <p:ph type="title"/>
          </p:nvPr>
        </p:nvSpPr>
        <p:spPr>
          <a:xfrm>
            <a:off x="457200" y="274650"/>
            <a:ext cx="8229600" cy="9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Key Workflows</a:t>
            </a:r>
            <a:endParaRPr b="1">
              <a:solidFill>
                <a:srgbClr val="0187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0"/>
          <p:cNvSpPr txBox="1">
            <a:spLocks noGrp="1"/>
          </p:cNvSpPr>
          <p:nvPr>
            <p:ph type="body" idx="1"/>
          </p:nvPr>
        </p:nvSpPr>
        <p:spPr>
          <a:xfrm>
            <a:off x="457200" y="1202850"/>
            <a:ext cx="8229600" cy="49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0000" lnSpcReduction="10000"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5250">
                <a:solidFill>
                  <a:srgbClr val="0187CC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2) Expense Management</a:t>
            </a:r>
            <a:endParaRPr sz="5250">
              <a:solidFill>
                <a:srgbClr val="0187CC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342900" lvl="0" indent="-36195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rgbClr val="0187CC"/>
              </a:buClr>
              <a:buSzPct val="100000"/>
              <a:buChar char="●"/>
            </a:pPr>
            <a:r>
              <a:rPr lang="en-US" sz="5250">
                <a:solidFill>
                  <a:srgbClr val="0187CC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View: DashboardComponent fetches expenses via ExpenseService.getAllExpenses().</a:t>
            </a:r>
            <a:endParaRPr sz="5250">
              <a:solidFill>
                <a:srgbClr val="0187CC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342900" lvl="0" indent="-36195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rgbClr val="0187CC"/>
              </a:buClr>
              <a:buSzPct val="100000"/>
              <a:buChar char="●"/>
            </a:pPr>
            <a:r>
              <a:rPr lang="en-US" sz="5250">
                <a:solidFill>
                  <a:srgbClr val="0187CC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Add: User clicks "Add Expense", navigates to expense/add.</a:t>
            </a:r>
            <a:endParaRPr sz="5250">
              <a:solidFill>
                <a:srgbClr val="0187CC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342900" lvl="0" indent="-36195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rgbClr val="0187CC"/>
              </a:buClr>
              <a:buSzPct val="100000"/>
              <a:buChar char="●"/>
            </a:pPr>
            <a:r>
              <a:rPr lang="en-US" sz="5250">
                <a:solidFill>
                  <a:srgbClr val="0187CC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Edit: User selects an expense, navigates to expense/edit/:id.</a:t>
            </a:r>
            <a:endParaRPr sz="5250">
              <a:solidFill>
                <a:srgbClr val="0187CC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342900" lvl="0" indent="-36195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rgbClr val="0187CC"/>
              </a:buClr>
              <a:buSzPct val="100000"/>
              <a:buChar char="●"/>
            </a:pPr>
            <a:r>
              <a:rPr lang="en-US" sz="5250">
                <a:solidFill>
                  <a:srgbClr val="0187CC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ExpenseService fetches the specific expense to pre-fill the form.</a:t>
            </a:r>
            <a:endParaRPr sz="5250">
              <a:solidFill>
                <a:srgbClr val="0187CC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342900" lvl="0" indent="-36195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rgbClr val="0187CC"/>
              </a:buClr>
              <a:buSzPct val="100000"/>
              <a:buChar char="●"/>
            </a:pPr>
            <a:r>
              <a:rPr lang="en-US" sz="5250">
                <a:solidFill>
                  <a:srgbClr val="0187CC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Delete: User deletes an expense, ExpenseService sends DELETE request and updates the local list/view.</a:t>
            </a:r>
            <a:endParaRPr sz="5250">
              <a:solidFill>
                <a:srgbClr val="0187CC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342900" lvl="0" indent="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None/>
            </a:pPr>
            <a:endParaRPr sz="4150">
              <a:solidFill>
                <a:srgbClr val="787C99"/>
              </a:solidFill>
              <a:highlight>
                <a:srgbClr val="1A1B26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p20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30" y="6274784"/>
            <a:ext cx="645766" cy="422937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0"/>
          <p:cNvSpPr txBox="1"/>
          <p:nvPr/>
        </p:nvSpPr>
        <p:spPr>
          <a:xfrm>
            <a:off x="4902600" y="6457800"/>
            <a:ext cx="4241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2024 - RPS Consulting all rights reserved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Demo Screenshots</a:t>
            </a:r>
            <a:endParaRPr b="1">
              <a:solidFill>
                <a:srgbClr val="0187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9" name="Google Shape;16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975" y="1600200"/>
            <a:ext cx="4106904" cy="452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8882" y="1417650"/>
            <a:ext cx="3416920" cy="4525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1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30" y="6274784"/>
            <a:ext cx="645766" cy="422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Demo Screenshots</a:t>
            </a:r>
            <a:endParaRPr b="1">
              <a:solidFill>
                <a:srgbClr val="0187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9" name="Google Shape;17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69474"/>
            <a:ext cx="9144001" cy="405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2" descr="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630" y="6274784"/>
            <a:ext cx="645766" cy="422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Demo Screenshots</a:t>
            </a:r>
            <a:endParaRPr b="1">
              <a:solidFill>
                <a:srgbClr val="0187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8" name="Google Shape;18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87500"/>
            <a:ext cx="9144001" cy="424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3" descr="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630" y="6274784"/>
            <a:ext cx="645766" cy="422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Demo Screenshots</a:t>
            </a:r>
            <a:endParaRPr b="1">
              <a:solidFill>
                <a:srgbClr val="0187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7" name="Google Shape;19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98574"/>
            <a:ext cx="9144001" cy="3777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4" descr="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630" y="6274784"/>
            <a:ext cx="645766" cy="422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Demo Screenshots</a:t>
            </a:r>
            <a:endParaRPr b="1">
              <a:solidFill>
                <a:srgbClr val="0187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6" name="Google Shape;206;p25"/>
          <p:cNvPicPr preferRelativeResize="0"/>
          <p:nvPr/>
        </p:nvPicPr>
        <p:blipFill rotWithShape="1">
          <a:blip r:embed="rId3">
            <a:alphaModFix/>
          </a:blip>
          <a:srcRect t="1652"/>
          <a:stretch/>
        </p:blipFill>
        <p:spPr>
          <a:xfrm>
            <a:off x="3045675" y="1263425"/>
            <a:ext cx="3645450" cy="501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5" descr="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630" y="6274784"/>
            <a:ext cx="645766" cy="422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Backend Deployment</a:t>
            </a:r>
            <a:endParaRPr b="1" dirty="0">
              <a:solidFill>
                <a:srgbClr val="0187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5" name="Google Shape;215;p26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30" y="6274784"/>
            <a:ext cx="645766" cy="422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1417650"/>
            <a:ext cx="8110024" cy="4331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Frontend Deployment</a:t>
            </a:r>
            <a:endParaRPr b="1" dirty="0">
              <a:solidFill>
                <a:srgbClr val="0187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4" name="Google Shape;224;p27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30" y="6274784"/>
            <a:ext cx="645766" cy="422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1325850"/>
            <a:ext cx="8229600" cy="4413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 b="1" dirty="0">
              <a:solidFill>
                <a:srgbClr val="0187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3" name="Google Shape;233;p28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30" y="6274784"/>
            <a:ext cx="645766" cy="422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1568200"/>
            <a:ext cx="8229600" cy="4186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b="1">
              <a:solidFill>
                <a:srgbClr val="0187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65274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1115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rgbClr val="0187CC"/>
              </a:buClr>
              <a:buSzPts val="2700"/>
              <a:buChar char="•"/>
            </a:pPr>
            <a:r>
              <a:rPr lang="en-US" sz="2400" dirty="0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Delivered: Full-stack expense tracking with modern stack and DevOps.</a:t>
            </a:r>
            <a:endParaRPr sz="2400" dirty="0">
              <a:solidFill>
                <a:srgbClr val="0187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rgbClr val="0187CC"/>
              </a:buClr>
              <a:buSzPts val="3200"/>
              <a:buChar char="•"/>
            </a:pPr>
            <a:r>
              <a:rPr lang="en-US" sz="2400" dirty="0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Impact: Empowers users with spending insights.</a:t>
            </a:r>
            <a:endParaRPr sz="2400" dirty="0">
              <a:solidFill>
                <a:srgbClr val="0187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 sz="2400" dirty="0"/>
          </a:p>
        </p:txBody>
      </p:sp>
      <p:pic>
        <p:nvPicPr>
          <p:cNvPr id="242" name="Google Shape;242;p29"/>
          <p:cNvPicPr preferRelativeResize="0"/>
          <p:nvPr/>
        </p:nvPicPr>
        <p:blipFill rotWithShape="1">
          <a:blip r:embed="rId3">
            <a:alphaModFix/>
          </a:blip>
          <a:srcRect b="6976"/>
          <a:stretch/>
        </p:blipFill>
        <p:spPr>
          <a:xfrm>
            <a:off x="6879075" y="2408275"/>
            <a:ext cx="2057400" cy="2041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9" descr="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630" y="6274784"/>
            <a:ext cx="645766" cy="422937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9"/>
          <p:cNvSpPr txBox="1"/>
          <p:nvPr/>
        </p:nvSpPr>
        <p:spPr>
          <a:xfrm>
            <a:off x="5236800" y="6457800"/>
            <a:ext cx="3907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2024 - RPS Consulting all rights reserved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1397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4000" b="1" i="1" dirty="0">
                <a:solidFill>
                  <a:srgbClr val="0187CC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r>
              <a:rPr lang="en-US" sz="4000" dirty="0"/>
              <a:t> </a:t>
            </a:r>
            <a:endParaRPr sz="4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 sz="4000" dirty="0"/>
          </a:p>
        </p:txBody>
      </p:sp>
      <p:pic>
        <p:nvPicPr>
          <p:cNvPr id="252" name="Google Shape;252;p30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30" y="6274784"/>
            <a:ext cx="645766" cy="422937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0"/>
          <p:cNvSpPr txBox="1"/>
          <p:nvPr/>
        </p:nvSpPr>
        <p:spPr>
          <a:xfrm>
            <a:off x="5236800" y="6457800"/>
            <a:ext cx="3907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2024 - RPS Consulting all rights reserved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547</Words>
  <Application>Microsoft Office PowerPoint</Application>
  <PresentationFormat>On-screen Show (4:3)</PresentationFormat>
  <Paragraphs>92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Problem Statement</vt:lpstr>
      <vt:lpstr>Project Goals</vt:lpstr>
      <vt:lpstr>Core Functionalities</vt:lpstr>
      <vt:lpstr>Technology Stack - Frontend</vt:lpstr>
      <vt:lpstr>Entity Relationship Diagram</vt:lpstr>
      <vt:lpstr>Key Workflows</vt:lpstr>
      <vt:lpstr>Key Workflows</vt:lpstr>
      <vt:lpstr>Demo Screenshots</vt:lpstr>
      <vt:lpstr>Demo Screenshots</vt:lpstr>
      <vt:lpstr>Demo Screenshots</vt:lpstr>
      <vt:lpstr>Demo Screenshots</vt:lpstr>
      <vt:lpstr>Demo Screenshots</vt:lpstr>
      <vt:lpstr>Backend Deployment</vt:lpstr>
      <vt:lpstr>Frontend Deployment</vt:lpstr>
      <vt:lpstr>Database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Pratheep</dc:creator>
  <cp:lastModifiedBy>Pratheep P</cp:lastModifiedBy>
  <cp:revision>2</cp:revision>
  <dcterms:modified xsi:type="dcterms:W3CDTF">2026-02-10T06:34:40Z</dcterms:modified>
</cp:coreProperties>
</file>